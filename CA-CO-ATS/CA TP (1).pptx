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4" r:id="rId4"/>
    <p:sldId id="265" r:id="rId5"/>
    <p:sldId id="259" r:id="rId6"/>
    <p:sldId id="260" r:id="rId7"/>
    <p:sldId id="261" r:id="rId8"/>
    <p:sldId id="262" r:id="rId9"/>
    <p:sldId id="263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2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0719001-1BB4-4F2D-A0F5-75F93976DC8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1F5AB-8A4A-41FA-8BD9-724DD3E6774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7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9001-1BB4-4F2D-A0F5-75F93976DC8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1F5AB-8A4A-41FA-8BD9-724DD3E67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96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9001-1BB4-4F2D-A0F5-75F93976DC8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1F5AB-8A4A-41FA-8BD9-724DD3E6774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19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9001-1BB4-4F2D-A0F5-75F93976DC8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1F5AB-8A4A-41FA-8BD9-724DD3E67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471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9001-1BB4-4F2D-A0F5-75F93976DC8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1F5AB-8A4A-41FA-8BD9-724DD3E67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108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9001-1BB4-4F2D-A0F5-75F93976DC8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1F5AB-8A4A-41FA-8BD9-724DD3E67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902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9001-1BB4-4F2D-A0F5-75F93976DC8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1F5AB-8A4A-41FA-8BD9-724DD3E67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055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9001-1BB4-4F2D-A0F5-75F93976DC8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1F5AB-8A4A-41FA-8BD9-724DD3E67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319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9001-1BB4-4F2D-A0F5-75F93976DC8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1F5AB-8A4A-41FA-8BD9-724DD3E6774A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49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9001-1BB4-4F2D-A0F5-75F93976DC8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1F5AB-8A4A-41FA-8BD9-724DD3E677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10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9001-1BB4-4F2D-A0F5-75F93976DC8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1F5AB-8A4A-41FA-8BD9-724DD3E6774A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90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10719001-1BB4-4F2D-A0F5-75F93976DC8E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DF51F5AB-8A4A-41FA-8BD9-724DD3E6774A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66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F76E3-AF82-7DB5-B1DD-AD03AEEC6B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897" y="1349203"/>
            <a:ext cx="11829584" cy="146304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Cache Memory: Working Principles and Applications</a:t>
            </a:r>
            <a:endParaRPr lang="en-IN" sz="30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EA6AF-CBF5-585F-F153-7F0BA1A588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                          BY</a:t>
            </a:r>
          </a:p>
          <a:p>
            <a:r>
              <a:rPr lang="en-US" dirty="0"/>
              <a:t>             G LOKESH YADAV</a:t>
            </a:r>
          </a:p>
          <a:p>
            <a:r>
              <a:rPr lang="en-US" dirty="0"/>
              <a:t>                 192411061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765C02-C3AC-895E-3046-B5C3EAD5B4E8}"/>
              </a:ext>
            </a:extLst>
          </p:cNvPr>
          <p:cNvSpPr txBox="1"/>
          <p:nvPr/>
        </p:nvSpPr>
        <p:spPr>
          <a:xfrm>
            <a:off x="3899330" y="3108279"/>
            <a:ext cx="4515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CSA1220-Computer Architecture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A771E7B-4579-71DD-1727-B2569BA8947B}"/>
              </a:ext>
            </a:extLst>
          </p:cNvPr>
          <p:cNvSpPr txBox="1">
            <a:spLocks/>
          </p:cNvSpPr>
          <p:nvPr/>
        </p:nvSpPr>
        <p:spPr>
          <a:xfrm>
            <a:off x="718751" y="4915788"/>
            <a:ext cx="3544329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                  GUIDED BY</a:t>
            </a:r>
          </a:p>
          <a:p>
            <a:r>
              <a:rPr lang="en-US" dirty="0"/>
              <a:t>               DR S RADHIKA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0694FD-66DF-5565-3C5A-CE7DDFC7CCC8}"/>
              </a:ext>
            </a:extLst>
          </p:cNvPr>
          <p:cNvSpPr txBox="1"/>
          <p:nvPr/>
        </p:nvSpPr>
        <p:spPr>
          <a:xfrm>
            <a:off x="3680749" y="625928"/>
            <a:ext cx="4687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51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F396-7FE5-5E9D-29B8-81F29D509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812" y="646776"/>
            <a:ext cx="11118560" cy="1325563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CACHE MEMORY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D2A62-D5A6-833F-6072-165D4EECF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257" y="4126946"/>
            <a:ext cx="10515600" cy="207820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Cache memory is a small, high-speed memory located close to the CPU.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It stores frequently used data and instructions.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It helps the CPU access data much faster than RAM.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Main purpose: Reduce memory access time and improve system performance. </a:t>
            </a:r>
          </a:p>
          <a:p>
            <a:pPr marL="0" indent="0">
              <a:buNone/>
            </a:pPr>
            <a:endParaRPr lang="en-IN" sz="2400" dirty="0"/>
          </a:p>
          <a:p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AD91BB-097F-920A-EE14-433E8737A2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0" t="6847" r="2184"/>
          <a:stretch>
            <a:fillRect/>
          </a:stretch>
        </p:blipFill>
        <p:spPr>
          <a:xfrm>
            <a:off x="3870960" y="1856592"/>
            <a:ext cx="3667760" cy="19552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889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7B91F-41D2-E6B5-E552-9EDC6098C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2B110-D55D-006A-19AB-F2FD111D0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984" y="646776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EB21-B39A-B9B3-0319-A7F343462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2180" y="2673751"/>
            <a:ext cx="7866074" cy="2604303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Modern CPUs execute billions of instructions per second.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RAM is much slower than the CPU.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This speed difference creates a memory</a:t>
            </a:r>
            <a:r>
              <a:rPr lang="en-IN" sz="2400" b="1" dirty="0"/>
              <a:t> </a:t>
            </a:r>
            <a:r>
              <a:rPr lang="en-IN" sz="2400" dirty="0"/>
              <a:t>bottleneck. 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The CPU wastes time waiting for data from RAM.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74600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DDD40-3491-A70E-C45E-17A1306DA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C7CF4-52F5-AD6D-36EA-987E0B50A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685" y="658351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9DC531C-574B-9281-1261-DD212518B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715702"/>
              </p:ext>
            </p:extLst>
          </p:nvPr>
        </p:nvGraphicFramePr>
        <p:xfrm>
          <a:off x="1650422" y="1752420"/>
          <a:ext cx="7968141" cy="3699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4339">
                  <a:extLst>
                    <a:ext uri="{9D8B030D-6E8A-4147-A177-3AD203B41FA5}">
                      <a16:colId xmlns:a16="http://schemas.microsoft.com/office/drawing/2014/main" val="2524367174"/>
                    </a:ext>
                  </a:extLst>
                </a:gridCol>
                <a:gridCol w="4013802">
                  <a:extLst>
                    <a:ext uri="{9D8B030D-6E8A-4147-A177-3AD203B41FA5}">
                      <a16:colId xmlns:a16="http://schemas.microsoft.com/office/drawing/2014/main" val="2066565308"/>
                    </a:ext>
                  </a:extLst>
                </a:gridCol>
              </a:tblGrid>
              <a:tr h="5835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798790"/>
                  </a:ext>
                </a:extLst>
              </a:tr>
              <a:tr h="623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CPU Registers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~1 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9906658"/>
                  </a:ext>
                </a:extLst>
              </a:tr>
              <a:tr h="623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L1 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~1 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5598360"/>
                  </a:ext>
                </a:extLst>
              </a:tr>
              <a:tr h="623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L2 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3–5 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063285"/>
                  </a:ext>
                </a:extLst>
              </a:tr>
              <a:tr h="623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L3 Cache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10–20 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9945058"/>
                  </a:ext>
                </a:extLst>
              </a:tr>
              <a:tr h="623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50–100 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340495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3AB613C-CFB7-694D-0A9A-0F264A0F3276}"/>
              </a:ext>
            </a:extLst>
          </p:cNvPr>
          <p:cNvSpPr txBox="1"/>
          <p:nvPr/>
        </p:nvSpPr>
        <p:spPr>
          <a:xfrm>
            <a:off x="1574157" y="5493702"/>
            <a:ext cx="64872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Analysis: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CPU is much faster than RAM.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Cache memory bridges this speed gap.</a:t>
            </a:r>
          </a:p>
        </p:txBody>
      </p:sp>
    </p:spTree>
    <p:extLst>
      <p:ext uri="{BB962C8B-B14F-4D97-AF65-F5344CB8AC3E}">
        <p14:creationId xmlns:p14="http://schemas.microsoft.com/office/powerpoint/2010/main" val="557180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B5FDE-7D96-C642-4114-206E26F01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704" y="615718"/>
            <a:ext cx="10269948" cy="1499616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CACHE MEMORY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7B3556-AC30-40F0-3D75-C2E9496872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1026" y="1871380"/>
            <a:ext cx="11666261" cy="4520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L1 Cache                                         L3 Cache</a:t>
            </a:r>
          </a:p>
          <a:p>
            <a:r>
              <a:rPr lang="en-IN" sz="2400" dirty="0"/>
              <a:t>Fastest cache                                  Largest cache</a:t>
            </a:r>
          </a:p>
          <a:p>
            <a:r>
              <a:rPr lang="en-IN" sz="2400" dirty="0"/>
              <a:t>Smallest size (32–128 KB)               Shared among CPU cores</a:t>
            </a:r>
          </a:p>
          <a:p>
            <a:r>
              <a:rPr lang="en-IN" sz="2400" dirty="0"/>
              <a:t>Built inside each CPU core               Size ranges from 4 MB to 64 MB or more</a:t>
            </a:r>
          </a:p>
          <a:p>
            <a:r>
              <a:rPr lang="en-IN" sz="2400" b="1" dirty="0"/>
              <a:t>L2 Cache</a:t>
            </a:r>
            <a:endParaRPr lang="en-IN" sz="2400" dirty="0"/>
          </a:p>
          <a:p>
            <a:r>
              <a:rPr lang="en-IN" sz="2400" dirty="0"/>
              <a:t>Larger than L1 </a:t>
            </a:r>
          </a:p>
          <a:p>
            <a:r>
              <a:rPr lang="en-IN" sz="2400" dirty="0"/>
              <a:t>Slightly slower </a:t>
            </a:r>
          </a:p>
          <a:p>
            <a:r>
              <a:rPr lang="en-IN" sz="2400" dirty="0"/>
              <a:t>Usually 256 KB–2 MB</a:t>
            </a:r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06DDD-E434-9EFE-A595-11C0CA23E2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6" t="2422" r="1"/>
          <a:stretch>
            <a:fillRect/>
          </a:stretch>
        </p:blipFill>
        <p:spPr>
          <a:xfrm>
            <a:off x="4795520" y="4131486"/>
            <a:ext cx="5645395" cy="194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35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6AAA6-4A0C-20A5-BA30-EE331AD1B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9351" y="144596"/>
            <a:ext cx="9720072" cy="1499616"/>
          </a:xfrm>
        </p:spPr>
        <p:txBody>
          <a:bodyPr>
            <a:normAutofit/>
          </a:bodyPr>
          <a:lstStyle/>
          <a:p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CACHE MEMORY</a:t>
            </a:r>
            <a:endParaRPr lang="en-IN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A0BC31-99D4-6617-62DA-B4BEF40EF518}"/>
              </a:ext>
            </a:extLst>
          </p:cNvPr>
          <p:cNvSpPr/>
          <p:nvPr/>
        </p:nvSpPr>
        <p:spPr>
          <a:xfrm>
            <a:off x="2428240" y="1421546"/>
            <a:ext cx="1524000" cy="863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Check Cache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84A7EE-6B13-C03A-9BE6-62D7BDF699A2}"/>
              </a:ext>
            </a:extLst>
          </p:cNvPr>
          <p:cNvSpPr/>
          <p:nvPr/>
        </p:nvSpPr>
        <p:spPr>
          <a:xfrm>
            <a:off x="4983480" y="2236380"/>
            <a:ext cx="1524000" cy="701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Check Cache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E0B7D6-6708-A669-1B1D-396DC751D82D}"/>
              </a:ext>
            </a:extLst>
          </p:cNvPr>
          <p:cNvSpPr/>
          <p:nvPr/>
        </p:nvSpPr>
        <p:spPr>
          <a:xfrm>
            <a:off x="2934267" y="3371090"/>
            <a:ext cx="1656080" cy="863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Cache Hit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D8CC58-6BF3-820B-75E4-C0254B9CFFA5}"/>
              </a:ext>
            </a:extLst>
          </p:cNvPr>
          <p:cNvSpPr/>
          <p:nvPr/>
        </p:nvSpPr>
        <p:spPr>
          <a:xfrm>
            <a:off x="7965440" y="3485390"/>
            <a:ext cx="2164080" cy="660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Data sent to CPU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9DE1B0-B4D8-A21C-F01B-246D0BC9BC7D}"/>
              </a:ext>
            </a:extLst>
          </p:cNvPr>
          <p:cNvSpPr/>
          <p:nvPr/>
        </p:nvSpPr>
        <p:spPr>
          <a:xfrm>
            <a:off x="4568054" y="4457034"/>
            <a:ext cx="1971040" cy="863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Fetch data from RAM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7A6583-5E61-40BD-13D0-7F7BBEED4B07}"/>
              </a:ext>
            </a:extLst>
          </p:cNvPr>
          <p:cNvSpPr/>
          <p:nvPr/>
        </p:nvSpPr>
        <p:spPr>
          <a:xfrm>
            <a:off x="2819400" y="5801890"/>
            <a:ext cx="2164080" cy="863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Store in Cache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8215792-342F-D2E3-2562-5EC8626E0FD1}"/>
              </a:ext>
            </a:extLst>
          </p:cNvPr>
          <p:cNvSpPr/>
          <p:nvPr/>
        </p:nvSpPr>
        <p:spPr>
          <a:xfrm>
            <a:off x="7086600" y="5801890"/>
            <a:ext cx="2164080" cy="8636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     Send to CPU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667A3DF-22C7-0C40-11B9-63348A7729C8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3952240" y="1853346"/>
            <a:ext cx="1031240" cy="7335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CED58F5-1976-44D6-3C6D-DAA89A5D93FC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4537059" y="2162669"/>
            <a:ext cx="433670" cy="19831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0AC6E65-6BE2-899E-E2E0-A77C9C23222F}"/>
              </a:ext>
            </a:extLst>
          </p:cNvPr>
          <p:cNvSpPr/>
          <p:nvPr/>
        </p:nvSpPr>
        <p:spPr>
          <a:xfrm>
            <a:off x="5553574" y="3574290"/>
            <a:ext cx="94488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YES</a:t>
            </a:r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5EAB21E-191D-6F35-CD7E-F2D3B2372C0B}"/>
              </a:ext>
            </a:extLst>
          </p:cNvPr>
          <p:cNvSpPr/>
          <p:nvPr/>
        </p:nvSpPr>
        <p:spPr>
          <a:xfrm>
            <a:off x="2461827" y="4630606"/>
            <a:ext cx="944880" cy="482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</a:t>
            </a:r>
            <a:endParaRPr lang="en-IN" dirty="0"/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41CE1993-3B97-1E84-3EDF-81E3843A94C3}"/>
              </a:ext>
            </a:extLst>
          </p:cNvPr>
          <p:cNvCxnSpPr>
            <a:cxnSpLocks/>
            <a:stCxn id="12" idx="2"/>
            <a:endCxn id="29" idx="0"/>
          </p:cNvCxnSpPr>
          <p:nvPr/>
        </p:nvCxnSpPr>
        <p:spPr>
          <a:xfrm rot="10800000" flipV="1">
            <a:off x="2934267" y="3802890"/>
            <a:ext cx="12700" cy="827716"/>
          </a:xfrm>
          <a:prstGeom prst="bentConnector4">
            <a:avLst>
              <a:gd name="adj1" fmla="val -1800000"/>
              <a:gd name="adj2" fmla="val 760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C3274FA-554A-A366-28F9-0CDE40449225}"/>
              </a:ext>
            </a:extLst>
          </p:cNvPr>
          <p:cNvCxnSpPr>
            <a:cxnSpLocks/>
            <a:stCxn id="12" idx="6"/>
            <a:endCxn id="27" idx="2"/>
          </p:cNvCxnSpPr>
          <p:nvPr/>
        </p:nvCxnSpPr>
        <p:spPr>
          <a:xfrm>
            <a:off x="4590347" y="3802890"/>
            <a:ext cx="963227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53B37C3-15CF-911C-9F45-23207401BD47}"/>
              </a:ext>
            </a:extLst>
          </p:cNvPr>
          <p:cNvCxnSpPr>
            <a:stCxn id="27" idx="6"/>
            <a:endCxn id="13" idx="1"/>
          </p:cNvCxnSpPr>
          <p:nvPr/>
        </p:nvCxnSpPr>
        <p:spPr>
          <a:xfrm>
            <a:off x="6498454" y="3815590"/>
            <a:ext cx="14669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6C8F490-8983-430E-F7D2-A140F8E62F84}"/>
              </a:ext>
            </a:extLst>
          </p:cNvPr>
          <p:cNvCxnSpPr>
            <a:cxnSpLocks/>
            <a:stCxn id="29" idx="6"/>
            <a:endCxn id="14" idx="1"/>
          </p:cNvCxnSpPr>
          <p:nvPr/>
        </p:nvCxnSpPr>
        <p:spPr>
          <a:xfrm>
            <a:off x="3406707" y="4871906"/>
            <a:ext cx="1161347" cy="16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E019C0AD-9EE6-F5B8-0F94-E779693D264E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5400000">
            <a:off x="4486879" y="4735195"/>
            <a:ext cx="481256" cy="1652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677EDC-8ADB-1C82-3E87-2B8C7A9E87B3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4983480" y="6233690"/>
            <a:ext cx="2103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49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E5F1-F651-8FBC-C62E-34D98D032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8AD8-7627-D322-BEEA-D9B75F2BA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882" y="573797"/>
            <a:ext cx="9720072" cy="1499616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A408B-701F-DBE2-AB03-951B712CD7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1939" y="2200232"/>
            <a:ext cx="4931829" cy="317042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400" dirty="0"/>
              <a:t>Faster data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Improves CPU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Reduces execution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Decreases RAM access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Saves power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Enhances multitasking 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39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C6D4B-77B0-12C1-81C6-A38B23BE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2F42-3C5A-BE78-D5D3-C8A0F178A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787" y="542222"/>
            <a:ext cx="7886417" cy="1499616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EFFDD-1ADD-1496-E475-BB742FB3C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7120" y="2043563"/>
            <a:ext cx="4612743" cy="36511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400" dirty="0"/>
              <a:t>Personal computers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Gaming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Smartphones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Servers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Artificial Intelligence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Cloud computing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Embedded systems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3755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FF6E8-4092-A19D-4150-50C91E1FE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35FEA-39D8-96CE-060A-11F26A1DD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7148" y="596946"/>
            <a:ext cx="9720072" cy="1499616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00A73-1DA7-8484-5545-EF05F3C795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57509" y="2299021"/>
            <a:ext cx="7607757" cy="2354002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 Cache memory solves the CPU–RAM speed mismatch.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Improves processing speed.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Reduces execution time.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 Essential in modern processors.</a:t>
            </a:r>
          </a:p>
        </p:txBody>
      </p:sp>
    </p:spTree>
    <p:extLst>
      <p:ext uri="{BB962C8B-B14F-4D97-AF65-F5344CB8AC3E}">
        <p14:creationId xmlns:p14="http://schemas.microsoft.com/office/powerpoint/2010/main" val="1204221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A6AAB-7B0F-BCC9-9E37-C77C8EC73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4141" y="2783712"/>
            <a:ext cx="6342927" cy="792866"/>
          </a:xfrm>
        </p:spPr>
        <p:txBody>
          <a:bodyPr>
            <a:noAutofit/>
          </a:bodyPr>
          <a:lstStyle/>
          <a:p>
            <a:r>
              <a:rPr lang="en-IN" sz="6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3587044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164</TotalTime>
  <Words>305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Times New Roman</vt:lpstr>
      <vt:lpstr>Tw Cen MT</vt:lpstr>
      <vt:lpstr>Tw Cen MT Condensed</vt:lpstr>
      <vt:lpstr>Wingdings 3</vt:lpstr>
      <vt:lpstr>Integral</vt:lpstr>
      <vt:lpstr>Understanding Cache Memory: Working Principles and Applications</vt:lpstr>
      <vt:lpstr>Introduction to CACHE MEMORY</vt:lpstr>
      <vt:lpstr>Problem identification</vt:lpstr>
      <vt:lpstr>Problem anALYSIS</vt:lpstr>
      <vt:lpstr>TYPES OF CACHE MEMORY</vt:lpstr>
      <vt:lpstr>WORKING OF CACHE MEMORY</vt:lpstr>
      <vt:lpstr>ADVANTAGES</vt:lpstr>
      <vt:lpstr>APPLICATIONS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Sunaina Pamujula</dc:creator>
  <cp:lastModifiedBy>Sunaina Pamujula</cp:lastModifiedBy>
  <cp:revision>4</cp:revision>
  <dcterms:created xsi:type="dcterms:W3CDTF">2026-07-16T08:32:28Z</dcterms:created>
  <dcterms:modified xsi:type="dcterms:W3CDTF">2026-07-21T16:28:00Z</dcterms:modified>
</cp:coreProperties>
</file>